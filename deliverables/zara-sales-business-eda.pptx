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6" r:id="rId6"/>
    <p:sldId id="267" r:id="rId7"/>
    <p:sldId id="268" r:id="rId8"/>
    <p:sldId id="261" r:id="rId9"/>
    <p:sldId id="269" r:id="rId10"/>
    <p:sldId id="265" r:id="rId11"/>
    <p:sldId id="270" r:id="rId12"/>
  </p:sldIdLst>
  <p:sldSz cx="18288000" cy="10287000"/>
  <p:notesSz cx="6858000" cy="9144000"/>
  <p:embeddedFontLst>
    <p:embeddedFont>
      <p:font typeface="Cinzel" panose="020B0604020202020204" charset="0"/>
      <p:regular r:id="rId13"/>
    </p:embeddedFont>
    <p:embeddedFont>
      <p:font typeface="Poppins" panose="00000500000000000000" pitchFamily="2" charset="0"/>
      <p:regular r:id="rId14"/>
      <p:bold r:id="rId15"/>
    </p:embeddedFont>
    <p:embeddedFont>
      <p:font typeface="Poppins Bold" panose="00000800000000000000" charset="0"/>
      <p:regular r:id="rId16"/>
    </p:embeddedFont>
  </p:embeddedFontLst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8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2.pn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Zara has just brought out the ultimate basics collection | Marie Claire">
            <a:extLst>
              <a:ext uri="{FF2B5EF4-FFF2-40B4-BE49-F238E27FC236}">
                <a16:creationId xmlns:a16="http://schemas.microsoft.com/office/drawing/2014/main" id="{5A60F42F-9C0A-AEC6-BE23-F64F48150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/>
          <p:cNvSpPr txBox="1"/>
          <p:nvPr/>
        </p:nvSpPr>
        <p:spPr>
          <a:xfrm>
            <a:off x="3526268" y="6286500"/>
            <a:ext cx="11235463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027"/>
              </a:lnSpc>
            </a:pPr>
            <a:r>
              <a:rPr lang="en-US" sz="5000" dirty="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sales exploratory data analysis</a:t>
            </a:r>
          </a:p>
        </p:txBody>
      </p:sp>
      <p:sp>
        <p:nvSpPr>
          <p:cNvPr id="5" name="Freeform 5"/>
          <p:cNvSpPr/>
          <p:nvPr/>
        </p:nvSpPr>
        <p:spPr>
          <a:xfrm>
            <a:off x="10887289" y="5718062"/>
            <a:ext cx="678988" cy="678988"/>
          </a:xfrm>
          <a:custGeom>
            <a:avLst/>
            <a:gdLst/>
            <a:ahLst/>
            <a:cxnLst/>
            <a:rect l="l" t="t" r="r" b="b"/>
            <a:pathLst>
              <a:path w="678988" h="678988">
                <a:moveTo>
                  <a:pt x="0" y="0"/>
                </a:moveTo>
                <a:lnTo>
                  <a:pt x="678989" y="0"/>
                </a:lnTo>
                <a:lnTo>
                  <a:pt x="678989" y="678988"/>
                </a:lnTo>
                <a:lnTo>
                  <a:pt x="0" y="678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98376" y="9066847"/>
            <a:ext cx="136092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-546393" y="9248775"/>
            <a:ext cx="1644476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1026" name="Picture 2" descr="Zara Logo, symbol, meaning, history, PNG, brand">
            <a:extLst>
              <a:ext uri="{FF2B5EF4-FFF2-40B4-BE49-F238E27FC236}">
                <a16:creationId xmlns:a16="http://schemas.microsoft.com/office/drawing/2014/main" id="{482D464B-DD6D-9CCD-1EA5-064DBDF48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665" y="2019011"/>
            <a:ext cx="9990668" cy="561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2">
            <a:extLst>
              <a:ext uri="{FF2B5EF4-FFF2-40B4-BE49-F238E27FC236}">
                <a16:creationId xmlns:a16="http://schemas.microsoft.com/office/drawing/2014/main" id="{3B9A1B3F-1245-217A-43EE-B5C5FB2D4F7F}"/>
              </a:ext>
            </a:extLst>
          </p:cNvPr>
          <p:cNvSpPr/>
          <p:nvPr/>
        </p:nvSpPr>
        <p:spPr>
          <a:xfrm>
            <a:off x="0" y="10325100"/>
            <a:ext cx="18288000" cy="521969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03FADDC4-6908-D2AB-536F-F1674DDDA086}"/>
              </a:ext>
            </a:extLst>
          </p:cNvPr>
          <p:cNvSpPr/>
          <p:nvPr/>
        </p:nvSpPr>
        <p:spPr>
          <a:xfrm>
            <a:off x="8648993" y="11392486"/>
            <a:ext cx="990014" cy="990014"/>
          </a:xfrm>
          <a:custGeom>
            <a:avLst/>
            <a:gdLst/>
            <a:ahLst/>
            <a:cxnLst/>
            <a:rect l="l" t="t" r="r" b="b"/>
            <a:pathLst>
              <a:path w="990014" h="990014">
                <a:moveTo>
                  <a:pt x="0" y="0"/>
                </a:moveTo>
                <a:lnTo>
                  <a:pt x="990014" y="0"/>
                </a:lnTo>
                <a:lnTo>
                  <a:pt x="990014" y="990015"/>
                </a:lnTo>
                <a:lnTo>
                  <a:pt x="0" y="9900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839FD94A-2E00-3A8F-F581-3301D4198AB1}"/>
              </a:ext>
            </a:extLst>
          </p:cNvPr>
          <p:cNvSpPr txBox="1"/>
          <p:nvPr/>
        </p:nvSpPr>
        <p:spPr>
          <a:xfrm>
            <a:off x="3381709" y="6972300"/>
            <a:ext cx="11235463" cy="165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027"/>
              </a:lnSpc>
            </a:pPr>
            <a:r>
              <a:rPr lang="en-US" sz="3000" dirty="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Juglair Kristel Claire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6" descr="Zara has just brought out the ultimate basics collection | Marie Claire">
            <a:extLst>
              <a:ext uri="{FF2B5EF4-FFF2-40B4-BE49-F238E27FC236}">
                <a16:creationId xmlns:a16="http://schemas.microsoft.com/office/drawing/2014/main" id="{BC6F89ED-2203-CA42-591E-6CE0099CF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654"/>
            <a:ext cx="1828800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0" y="4707882"/>
            <a:ext cx="18288000" cy="573151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8648993" y="5677486"/>
            <a:ext cx="990014" cy="990014"/>
          </a:xfrm>
          <a:custGeom>
            <a:avLst/>
            <a:gdLst/>
            <a:ahLst/>
            <a:cxnLst/>
            <a:rect l="l" t="t" r="r" b="b"/>
            <a:pathLst>
              <a:path w="990014" h="990014">
                <a:moveTo>
                  <a:pt x="0" y="0"/>
                </a:moveTo>
                <a:lnTo>
                  <a:pt x="990014" y="0"/>
                </a:lnTo>
                <a:lnTo>
                  <a:pt x="990014" y="990015"/>
                </a:lnTo>
                <a:lnTo>
                  <a:pt x="0" y="990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-546393" y="9248775"/>
            <a:ext cx="1644476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2378295" y="6826443"/>
            <a:ext cx="5896342" cy="1908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Zara operates in </a:t>
            </a:r>
            <a:r>
              <a:rPr lang="en-US" sz="17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fast-fashion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it is characterized by:</a:t>
            </a:r>
          </a:p>
          <a:p>
            <a:pPr marL="285750" lvl="0" indent="-285750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Short product cycles</a:t>
            </a:r>
          </a:p>
          <a:p>
            <a:pPr marL="285750" lvl="0" indent="-285750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Seasonality</a:t>
            </a:r>
          </a:p>
          <a:p>
            <a:pPr marL="285750" lvl="0" indent="-285750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Global supply chain</a:t>
            </a:r>
          </a:p>
          <a:p>
            <a:pPr marL="285750" lvl="0" indent="-285750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 data driven decision making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62200" y="5841063"/>
            <a:ext cx="4754405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Business context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13363" y="6826443"/>
            <a:ext cx="5896342" cy="1908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sell data and find relevant pattern of </a:t>
            </a:r>
            <a:r>
              <a:rPr lang="en-US" sz="17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seasonality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7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materials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7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origin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the products and </a:t>
            </a:r>
            <a:r>
              <a:rPr lang="en-US" sz="17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segmentation to support decision making process about business, pricing and sourcing.</a:t>
            </a:r>
          </a:p>
          <a:p>
            <a:pPr lvl="0" algn="just">
              <a:lnSpc>
                <a:spcPts val="2519"/>
              </a:lnSpc>
              <a:spcBef>
                <a:spcPct val="0"/>
              </a:spcBef>
            </a:pPr>
            <a:endParaRPr lang="en-US" sz="1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algn="just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Tools: Kaggle | Excel | </a:t>
            </a:r>
            <a:r>
              <a:rPr lang="en-US" sz="1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PowerQuery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| </a:t>
            </a:r>
            <a:r>
              <a:rPr lang="en-US" sz="1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PowerBI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36099" y="5841064"/>
            <a:ext cx="5962277" cy="692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Dataset &amp; cleaning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98376" y="9066847"/>
            <a:ext cx="1360924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02</a:t>
            </a:r>
          </a:p>
        </p:txBody>
      </p:sp>
      <p:pic>
        <p:nvPicPr>
          <p:cNvPr id="20" name="Picture 2" descr="Zara Logo, symbol, meaning, history, PNG, brand">
            <a:extLst>
              <a:ext uri="{FF2B5EF4-FFF2-40B4-BE49-F238E27FC236}">
                <a16:creationId xmlns:a16="http://schemas.microsoft.com/office/drawing/2014/main" id="{AE7B28DD-9EDD-23B0-23C5-5511E5900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6">
            <a:extLst>
              <a:ext uri="{FF2B5EF4-FFF2-40B4-BE49-F238E27FC236}">
                <a16:creationId xmlns:a16="http://schemas.microsoft.com/office/drawing/2014/main" id="{08F897F5-A278-765E-115F-966509405FAD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1863E13A-5209-5A39-D198-F6AD17BB479D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91F59EA9-5360-3720-8250-4D47FE565B47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V="1">
            <a:off x="11239500" y="0"/>
            <a:ext cx="8520957" cy="10287000"/>
          </a:xfrm>
          <a:custGeom>
            <a:avLst/>
            <a:gdLst/>
            <a:ahLst/>
            <a:cxnLst/>
            <a:rect l="l" t="t" r="r" b="b"/>
            <a:pathLst>
              <a:path w="8520957" h="8574548">
                <a:moveTo>
                  <a:pt x="0" y="8574548"/>
                </a:moveTo>
                <a:lnTo>
                  <a:pt x="8520957" y="8574548"/>
                </a:lnTo>
                <a:lnTo>
                  <a:pt x="8520957" y="0"/>
                </a:lnTo>
                <a:lnTo>
                  <a:pt x="0" y="0"/>
                </a:lnTo>
                <a:lnTo>
                  <a:pt x="0" y="8574548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305246" y="4507938"/>
            <a:ext cx="6291759" cy="126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Which countries contribute most to sales?</a:t>
            </a:r>
          </a:p>
          <a:p>
            <a:pPr lvl="0" algn="just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What drives sales across seasonality?</a:t>
            </a:r>
          </a:p>
          <a:p>
            <a:pPr lvl="0" algn="just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Which materials perform best?</a:t>
            </a:r>
          </a:p>
          <a:p>
            <a:pPr lvl="0" algn="just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Are there any difference between Men and Women?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05246" y="3226816"/>
            <a:ext cx="5391954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Business Questions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98376" y="9066847"/>
            <a:ext cx="1360924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03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477000" y="9248775"/>
            <a:ext cx="942137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AFE3DEC4-47D9-E970-3EB2-2DD9A545CCD1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latin typeface="Poppins Bold"/>
                <a:ea typeface="Poppins Bold"/>
                <a:cs typeface="Poppins Bold"/>
                <a:sym typeface="Poppins Bold"/>
              </a:rPr>
              <a:t>INTRO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21EA7E00-93BD-806B-C38B-7587AAA47F5D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C9677419-C14D-A812-651A-B4C60DFA818D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  <p:pic>
        <p:nvPicPr>
          <p:cNvPr id="2050" name="Picture 2" descr="Zara Models Working Overtime With These Elaborate Poses | Zara models ...">
            <a:extLst>
              <a:ext uri="{FF2B5EF4-FFF2-40B4-BE49-F238E27FC236}">
                <a16:creationId xmlns:a16="http://schemas.microsoft.com/office/drawing/2014/main" id="{4BC8A902-7A29-2527-EF91-594A8F101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391" y="6001"/>
            <a:ext cx="6842575" cy="1032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Zara Logo, symbol, meaning, history, PNG, brand">
            <a:extLst>
              <a:ext uri="{FF2B5EF4-FFF2-40B4-BE49-F238E27FC236}">
                <a16:creationId xmlns:a16="http://schemas.microsoft.com/office/drawing/2014/main" id="{989B40DA-CE0E-E742-6510-9ED16812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7"/>
          <p:cNvSpPr/>
          <p:nvPr/>
        </p:nvSpPr>
        <p:spPr>
          <a:xfrm>
            <a:off x="6325186" y="6826403"/>
            <a:ext cx="990014" cy="990014"/>
          </a:xfrm>
          <a:custGeom>
            <a:avLst/>
            <a:gdLst/>
            <a:ahLst/>
            <a:cxnLst/>
            <a:rect l="l" t="t" r="r" b="b"/>
            <a:pathLst>
              <a:path w="990014" h="990014">
                <a:moveTo>
                  <a:pt x="0" y="0"/>
                </a:moveTo>
                <a:lnTo>
                  <a:pt x="990015" y="0"/>
                </a:lnTo>
                <a:lnTo>
                  <a:pt x="990015" y="990014"/>
                </a:lnTo>
                <a:lnTo>
                  <a:pt x="0" y="990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Freeform 9"/>
          <p:cNvSpPr/>
          <p:nvPr/>
        </p:nvSpPr>
        <p:spPr>
          <a:xfrm flipH="1">
            <a:off x="23445" y="26376"/>
            <a:ext cx="9120554" cy="10260623"/>
          </a:xfrm>
          <a:custGeom>
            <a:avLst/>
            <a:gdLst/>
            <a:ahLst/>
            <a:cxnLst/>
            <a:rect l="l" t="t" r="r" b="b"/>
            <a:pathLst>
              <a:path w="8178165" h="8229600">
                <a:moveTo>
                  <a:pt x="8178165" y="0"/>
                </a:moveTo>
                <a:lnTo>
                  <a:pt x="0" y="0"/>
                </a:lnTo>
                <a:lnTo>
                  <a:pt x="0" y="8229600"/>
                </a:lnTo>
                <a:lnTo>
                  <a:pt x="8178165" y="8229600"/>
                </a:lnTo>
                <a:lnTo>
                  <a:pt x="8178165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-546393" y="9248775"/>
            <a:ext cx="160395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1919062" y="4849367"/>
            <a:ext cx="7224938" cy="9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Sales are concentrated in a limited number of sourcing countries (mainly in Europe and Asia) 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Wingdings" panose="05000000000000000000" pitchFamily="2" charset="2"/>
              </a:rPr>
              <a:t> high dependance to specific productive areas</a:t>
            </a:r>
            <a:endParaRPr lang="en-US" sz="1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19062" y="6420077"/>
            <a:ext cx="7224938" cy="30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Supply chain risk 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Wingdings" panose="05000000000000000000" pitchFamily="2" charset="2"/>
              </a:rPr>
              <a:t> opportunity of diversification of suppliers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9062" y="3256787"/>
            <a:ext cx="6259103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Geographic 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98376" y="9066847"/>
            <a:ext cx="1360924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pic>
        <p:nvPicPr>
          <p:cNvPr id="19" name="Picture 2" descr="Zara Logo, symbol, meaning, history, PNG, brand">
            <a:extLst>
              <a:ext uri="{FF2B5EF4-FFF2-40B4-BE49-F238E27FC236}">
                <a16:creationId xmlns:a16="http://schemas.microsoft.com/office/drawing/2014/main" id="{31B42AC0-4695-084A-970E-9E59AA6F5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6">
            <a:extLst>
              <a:ext uri="{FF2B5EF4-FFF2-40B4-BE49-F238E27FC236}">
                <a16:creationId xmlns:a16="http://schemas.microsoft.com/office/drawing/2014/main" id="{63FE0824-C41D-49CE-2197-5BC68FC94871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AFF07FF7-6D8A-E94A-1362-18EA64DACC6D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189C2D75-DA40-F390-2881-6C89D25C2C23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  <p:pic>
        <p:nvPicPr>
          <p:cNvPr id="26" name="Picture 25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02FA1931-C71E-99FA-9806-B474503E2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8266" y="1777763"/>
            <a:ext cx="7429004" cy="6276584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10243259" y="2644598"/>
            <a:ext cx="990014" cy="990014"/>
          </a:xfrm>
          <a:custGeom>
            <a:avLst/>
            <a:gdLst/>
            <a:ahLst/>
            <a:cxnLst/>
            <a:rect l="l" t="t" r="r" b="b"/>
            <a:pathLst>
              <a:path w="990014" h="990014">
                <a:moveTo>
                  <a:pt x="0" y="0"/>
                </a:moveTo>
                <a:lnTo>
                  <a:pt x="990015" y="0"/>
                </a:lnTo>
                <a:lnTo>
                  <a:pt x="990015" y="990014"/>
                </a:lnTo>
                <a:lnTo>
                  <a:pt x="0" y="990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9F147-726E-4BF5-FAC2-21128091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89E719-E8FD-9D77-1745-228413794D5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3B89502-5CDB-36BF-DD65-9AE62EC8E980}"/>
              </a:ext>
            </a:extLst>
          </p:cNvPr>
          <p:cNvSpPr/>
          <p:nvPr/>
        </p:nvSpPr>
        <p:spPr>
          <a:xfrm flipH="1">
            <a:off x="23445" y="26376"/>
            <a:ext cx="9120554" cy="10260623"/>
          </a:xfrm>
          <a:custGeom>
            <a:avLst/>
            <a:gdLst/>
            <a:ahLst/>
            <a:cxnLst/>
            <a:rect l="l" t="t" r="r" b="b"/>
            <a:pathLst>
              <a:path w="8178165" h="8229600">
                <a:moveTo>
                  <a:pt x="8178165" y="0"/>
                </a:moveTo>
                <a:lnTo>
                  <a:pt x="0" y="0"/>
                </a:lnTo>
                <a:lnTo>
                  <a:pt x="0" y="8229600"/>
                </a:lnTo>
                <a:lnTo>
                  <a:pt x="8178165" y="8229600"/>
                </a:lnTo>
                <a:lnTo>
                  <a:pt x="8178165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6FE2B9B6-842D-449A-8231-2F31A01B995C}"/>
              </a:ext>
            </a:extLst>
          </p:cNvPr>
          <p:cNvSpPr/>
          <p:nvPr/>
        </p:nvSpPr>
        <p:spPr>
          <a:xfrm>
            <a:off x="-546393" y="9248775"/>
            <a:ext cx="160395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ABDE9ED-6EFA-7BAB-6A52-BE1176C02F9B}"/>
              </a:ext>
            </a:extLst>
          </p:cNvPr>
          <p:cNvSpPr txBox="1"/>
          <p:nvPr/>
        </p:nvSpPr>
        <p:spPr>
          <a:xfrm>
            <a:off x="1919062" y="4849367"/>
            <a:ext cx="7224938" cy="9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Seasonal products consistently outperform non-seasonal ones</a:t>
            </a:r>
          </a:p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Autumn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17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Winter</a:t>
            </a: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registered a higher level of sales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34B167B-3D5C-649D-E568-DAE3A671209B}"/>
              </a:ext>
            </a:extLst>
          </p:cNvPr>
          <p:cNvSpPr txBox="1"/>
          <p:nvPr/>
        </p:nvSpPr>
        <p:spPr>
          <a:xfrm>
            <a:off x="1919062" y="6420077"/>
            <a:ext cx="7224938" cy="62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Reinforce prior planning of seasonal collections</a:t>
            </a:r>
          </a:p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 non-seasonal stocks during peak periods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D4014C7-37C1-5304-7B20-B81605E03BBB}"/>
              </a:ext>
            </a:extLst>
          </p:cNvPr>
          <p:cNvSpPr txBox="1"/>
          <p:nvPr/>
        </p:nvSpPr>
        <p:spPr>
          <a:xfrm>
            <a:off x="1919062" y="3256787"/>
            <a:ext cx="6259103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Seasonality insights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FB67444-55B1-820D-BFEE-D5DBF1E2B28D}"/>
              </a:ext>
            </a:extLst>
          </p:cNvPr>
          <p:cNvSpPr txBox="1"/>
          <p:nvPr/>
        </p:nvSpPr>
        <p:spPr>
          <a:xfrm>
            <a:off x="15898376" y="9066847"/>
            <a:ext cx="1360924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05</a:t>
            </a:r>
          </a:p>
        </p:txBody>
      </p:sp>
      <p:pic>
        <p:nvPicPr>
          <p:cNvPr id="19" name="Picture 2" descr="Zara Logo, symbol, meaning, history, PNG, brand">
            <a:extLst>
              <a:ext uri="{FF2B5EF4-FFF2-40B4-BE49-F238E27FC236}">
                <a16:creationId xmlns:a16="http://schemas.microsoft.com/office/drawing/2014/main" id="{913A195A-FAD5-F2D0-5A30-03A11B690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6">
            <a:extLst>
              <a:ext uri="{FF2B5EF4-FFF2-40B4-BE49-F238E27FC236}">
                <a16:creationId xmlns:a16="http://schemas.microsoft.com/office/drawing/2014/main" id="{61298DFA-1273-29C2-5182-6DCDBE2ED8D5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BFD8018B-6529-7876-BF39-BE0882DEB7F0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54A9083F-5C82-EE75-C9A3-55F5AA0AE06C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  <p:pic>
        <p:nvPicPr>
          <p:cNvPr id="14" name="Picture 13" descr="A graph of sales by seasonal&#10;&#10;AI-generated content may be incorrect.">
            <a:extLst>
              <a:ext uri="{FF2B5EF4-FFF2-40B4-BE49-F238E27FC236}">
                <a16:creationId xmlns:a16="http://schemas.microsoft.com/office/drawing/2014/main" id="{6425C00A-3569-71FB-5A90-B8E016FB0F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5904339"/>
            <a:ext cx="3593805" cy="3145912"/>
          </a:xfrm>
          <a:prstGeom prst="rect">
            <a:avLst/>
          </a:prstGeom>
        </p:spPr>
      </p:pic>
      <p:pic>
        <p:nvPicPr>
          <p:cNvPr id="6" name="Picture 5" descr="A graph of sales by season&#10;&#10;AI-generated content may be incorrect.">
            <a:extLst>
              <a:ext uri="{FF2B5EF4-FFF2-40B4-BE49-F238E27FC236}">
                <a16:creationId xmlns:a16="http://schemas.microsoft.com/office/drawing/2014/main" id="{5EEAC8FF-8D02-7AA9-A5CB-B1B6CFEFFB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8267" y="1778044"/>
            <a:ext cx="6521034" cy="5179268"/>
          </a:xfrm>
          <a:prstGeom prst="rect">
            <a:avLst/>
          </a:prstGeom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D0BC1126-5A55-825D-2AA4-DDBEBCC8932C}"/>
              </a:ext>
            </a:extLst>
          </p:cNvPr>
          <p:cNvSpPr/>
          <p:nvPr/>
        </p:nvSpPr>
        <p:spPr>
          <a:xfrm>
            <a:off x="10243259" y="3010486"/>
            <a:ext cx="990014" cy="990014"/>
          </a:xfrm>
          <a:custGeom>
            <a:avLst/>
            <a:gdLst/>
            <a:ahLst/>
            <a:cxnLst/>
            <a:rect l="l" t="t" r="r" b="b"/>
            <a:pathLst>
              <a:path w="990014" h="990014">
                <a:moveTo>
                  <a:pt x="0" y="0"/>
                </a:moveTo>
                <a:lnTo>
                  <a:pt x="990015" y="0"/>
                </a:lnTo>
                <a:lnTo>
                  <a:pt x="990015" y="990014"/>
                </a:lnTo>
                <a:lnTo>
                  <a:pt x="0" y="990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886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AC898-11A5-F6FB-52B3-CEBC0709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234287-B440-B3A1-BB0A-6B26C9D6DFB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37EAEF2-0DA3-B92F-05C1-5FD642633382}"/>
              </a:ext>
            </a:extLst>
          </p:cNvPr>
          <p:cNvSpPr/>
          <p:nvPr/>
        </p:nvSpPr>
        <p:spPr>
          <a:xfrm flipH="1">
            <a:off x="23445" y="26376"/>
            <a:ext cx="9120554" cy="10260623"/>
          </a:xfrm>
          <a:custGeom>
            <a:avLst/>
            <a:gdLst/>
            <a:ahLst/>
            <a:cxnLst/>
            <a:rect l="l" t="t" r="r" b="b"/>
            <a:pathLst>
              <a:path w="8178165" h="8229600">
                <a:moveTo>
                  <a:pt x="8178165" y="0"/>
                </a:moveTo>
                <a:lnTo>
                  <a:pt x="0" y="0"/>
                </a:lnTo>
                <a:lnTo>
                  <a:pt x="0" y="8229600"/>
                </a:lnTo>
                <a:lnTo>
                  <a:pt x="8178165" y="8229600"/>
                </a:lnTo>
                <a:lnTo>
                  <a:pt x="8178165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3EFD333-F312-8DE2-3D86-A7D23CB0A6DE}"/>
              </a:ext>
            </a:extLst>
          </p:cNvPr>
          <p:cNvSpPr/>
          <p:nvPr/>
        </p:nvSpPr>
        <p:spPr>
          <a:xfrm>
            <a:off x="-546393" y="9248775"/>
            <a:ext cx="160395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EBC290D-E7B9-8E81-C1B1-2E21FB60F2F7}"/>
              </a:ext>
            </a:extLst>
          </p:cNvPr>
          <p:cNvSpPr txBox="1"/>
          <p:nvPr/>
        </p:nvSpPr>
        <p:spPr>
          <a:xfrm>
            <a:off x="1919062" y="4849367"/>
            <a:ext cx="7224938" cy="62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Satin and Silk have lower demand </a:t>
            </a:r>
          </a:p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Cotton, wool, polyester and linen have higher demand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5E059CC-83B1-3819-62EF-A7DFFC3106A7}"/>
              </a:ext>
            </a:extLst>
          </p:cNvPr>
          <p:cNvSpPr txBox="1"/>
          <p:nvPr/>
        </p:nvSpPr>
        <p:spPr>
          <a:xfrm>
            <a:off x="1919062" y="6420077"/>
            <a:ext cx="7224938" cy="62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Optimization of sourcing material </a:t>
            </a:r>
            <a:endParaRPr lang="en-US" sz="1799" dirty="0">
              <a:solidFill>
                <a:srgbClr val="000000"/>
              </a:solidFill>
              <a:latin typeface="Poppins"/>
              <a:ea typeface="Poppins"/>
              <a:cs typeface="Poppins"/>
              <a:sym typeface="Wingdings" panose="05000000000000000000" pitchFamily="2" charset="2"/>
            </a:endParaRPr>
          </a:p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Wingdings" panose="05000000000000000000" pitchFamily="2" charset="2"/>
              </a:rPr>
              <a:t>Reduce overproduction on low demand materials</a:t>
            </a:r>
            <a:endParaRPr lang="en-US" sz="1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915FC99-DB4A-EAF0-5CE6-1A49E47847AD}"/>
              </a:ext>
            </a:extLst>
          </p:cNvPr>
          <p:cNvSpPr txBox="1"/>
          <p:nvPr/>
        </p:nvSpPr>
        <p:spPr>
          <a:xfrm>
            <a:off x="1919062" y="3256787"/>
            <a:ext cx="6259103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Material insights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34147C0-EDBF-5577-F388-2D6BE6924550}"/>
              </a:ext>
            </a:extLst>
          </p:cNvPr>
          <p:cNvSpPr txBox="1"/>
          <p:nvPr/>
        </p:nvSpPr>
        <p:spPr>
          <a:xfrm>
            <a:off x="15898376" y="9066847"/>
            <a:ext cx="1360924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06</a:t>
            </a:r>
          </a:p>
        </p:txBody>
      </p:sp>
      <p:pic>
        <p:nvPicPr>
          <p:cNvPr id="19" name="Picture 2" descr="Zara Logo, symbol, meaning, history, PNG, brand">
            <a:extLst>
              <a:ext uri="{FF2B5EF4-FFF2-40B4-BE49-F238E27FC236}">
                <a16:creationId xmlns:a16="http://schemas.microsoft.com/office/drawing/2014/main" id="{BA7B059C-E898-5C68-6514-243AC2659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6">
            <a:extLst>
              <a:ext uri="{FF2B5EF4-FFF2-40B4-BE49-F238E27FC236}">
                <a16:creationId xmlns:a16="http://schemas.microsoft.com/office/drawing/2014/main" id="{2D334714-E49F-A236-666B-C450B1E44A13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44244FF4-15A5-3D75-8C3D-D7C4DDADE84F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C0F6CDD7-E313-F8C1-B716-08EDFD2FA633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  <p:pic>
        <p:nvPicPr>
          <p:cNvPr id="4" name="Picture 3" descr="A graph of sales by material and material&#10;&#10;AI-generated content may be incorrect.">
            <a:extLst>
              <a:ext uri="{FF2B5EF4-FFF2-40B4-BE49-F238E27FC236}">
                <a16:creationId xmlns:a16="http://schemas.microsoft.com/office/drawing/2014/main" id="{C575EC2B-A980-FE79-97FA-84B1BE4CB7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5770" y="2229574"/>
            <a:ext cx="7475833" cy="5152280"/>
          </a:xfrm>
          <a:prstGeom prst="rect">
            <a:avLst/>
          </a:prstGeom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F5EF3281-73A5-1F30-287C-81694F6F15FE}"/>
              </a:ext>
            </a:extLst>
          </p:cNvPr>
          <p:cNvSpPr/>
          <p:nvPr/>
        </p:nvSpPr>
        <p:spPr>
          <a:xfrm>
            <a:off x="10243259" y="3010486"/>
            <a:ext cx="990014" cy="990014"/>
          </a:xfrm>
          <a:custGeom>
            <a:avLst/>
            <a:gdLst/>
            <a:ahLst/>
            <a:cxnLst/>
            <a:rect l="l" t="t" r="r" b="b"/>
            <a:pathLst>
              <a:path w="990014" h="990014">
                <a:moveTo>
                  <a:pt x="0" y="0"/>
                </a:moveTo>
                <a:lnTo>
                  <a:pt x="990015" y="0"/>
                </a:lnTo>
                <a:lnTo>
                  <a:pt x="990015" y="990014"/>
                </a:lnTo>
                <a:lnTo>
                  <a:pt x="0" y="990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197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38EED-8465-ADC5-7B20-C5F16F95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BDBA49-C1E0-CD1B-9ECF-2D2EB479943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D4E7CB0-4939-D562-D304-CCE8DF7FE2CC}"/>
              </a:ext>
            </a:extLst>
          </p:cNvPr>
          <p:cNvSpPr/>
          <p:nvPr/>
        </p:nvSpPr>
        <p:spPr>
          <a:xfrm flipH="1">
            <a:off x="23445" y="26376"/>
            <a:ext cx="9120554" cy="10260623"/>
          </a:xfrm>
          <a:custGeom>
            <a:avLst/>
            <a:gdLst/>
            <a:ahLst/>
            <a:cxnLst/>
            <a:rect l="l" t="t" r="r" b="b"/>
            <a:pathLst>
              <a:path w="8178165" h="8229600">
                <a:moveTo>
                  <a:pt x="8178165" y="0"/>
                </a:moveTo>
                <a:lnTo>
                  <a:pt x="0" y="0"/>
                </a:lnTo>
                <a:lnTo>
                  <a:pt x="0" y="8229600"/>
                </a:lnTo>
                <a:lnTo>
                  <a:pt x="8178165" y="8229600"/>
                </a:lnTo>
                <a:lnTo>
                  <a:pt x="8178165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1BBF456-68EC-F6BF-A5A4-0B95405619CE}"/>
              </a:ext>
            </a:extLst>
          </p:cNvPr>
          <p:cNvSpPr/>
          <p:nvPr/>
        </p:nvSpPr>
        <p:spPr>
          <a:xfrm>
            <a:off x="-546393" y="9248775"/>
            <a:ext cx="160395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9EABB44-B058-3829-574D-1DD73C4F26B1}"/>
              </a:ext>
            </a:extLst>
          </p:cNvPr>
          <p:cNvSpPr txBox="1"/>
          <p:nvPr/>
        </p:nvSpPr>
        <p:spPr>
          <a:xfrm>
            <a:off x="1919062" y="4849367"/>
            <a:ext cx="7224938" cy="62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Women drive volume</a:t>
            </a:r>
          </a:p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 drive margin due to a higher selling price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5EE7208-6099-6C08-8D81-F2D74A7BBD8E}"/>
              </a:ext>
            </a:extLst>
          </p:cNvPr>
          <p:cNvSpPr txBox="1"/>
          <p:nvPr/>
        </p:nvSpPr>
        <p:spPr>
          <a:xfrm>
            <a:off x="1919062" y="6420077"/>
            <a:ext cx="7224938" cy="62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Wingdings" panose="05000000000000000000" pitchFamily="2" charset="2"/>
              </a:rPr>
              <a:t>Differentiated strategies by pricing and tastes</a:t>
            </a:r>
          </a:p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1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F3BA6D2-1551-1927-BBE1-51191B26B0BD}"/>
              </a:ext>
            </a:extLst>
          </p:cNvPr>
          <p:cNvSpPr txBox="1"/>
          <p:nvPr/>
        </p:nvSpPr>
        <p:spPr>
          <a:xfrm>
            <a:off x="1919062" y="3256787"/>
            <a:ext cx="6259103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Section insights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66ACC80-F8B0-7B25-4145-AC21DD4CFD28}"/>
              </a:ext>
            </a:extLst>
          </p:cNvPr>
          <p:cNvSpPr txBox="1"/>
          <p:nvPr/>
        </p:nvSpPr>
        <p:spPr>
          <a:xfrm>
            <a:off x="15898376" y="9066847"/>
            <a:ext cx="1360924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07</a:t>
            </a:r>
          </a:p>
        </p:txBody>
      </p:sp>
      <p:pic>
        <p:nvPicPr>
          <p:cNvPr id="19" name="Picture 2" descr="Zara Logo, symbol, meaning, history, PNG, brand">
            <a:extLst>
              <a:ext uri="{FF2B5EF4-FFF2-40B4-BE49-F238E27FC236}">
                <a16:creationId xmlns:a16="http://schemas.microsoft.com/office/drawing/2014/main" id="{453DC2DA-1B29-4E0D-FFE8-87B76249F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6">
            <a:extLst>
              <a:ext uri="{FF2B5EF4-FFF2-40B4-BE49-F238E27FC236}">
                <a16:creationId xmlns:a16="http://schemas.microsoft.com/office/drawing/2014/main" id="{6D4E4DDA-BF6E-FA1D-2A1E-FF5720DE5496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0D2EEF3E-162D-84BE-14A0-3530BDA4F561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D2130A4A-94E7-F692-4890-0A7F0EC2D183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  <p:pic>
        <p:nvPicPr>
          <p:cNvPr id="7" name="Picture 6" descr="A graph of sales and sum of price&#10;&#10;AI-generated content may be incorrect.">
            <a:extLst>
              <a:ext uri="{FF2B5EF4-FFF2-40B4-BE49-F238E27FC236}">
                <a16:creationId xmlns:a16="http://schemas.microsoft.com/office/drawing/2014/main" id="{867081D6-7567-A576-5EF3-ECB2BD9EC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7919" y="1481578"/>
            <a:ext cx="4792784" cy="7245958"/>
          </a:xfrm>
          <a:prstGeom prst="rect">
            <a:avLst/>
          </a:prstGeom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8F738125-1A77-67BE-FAB7-5043505A9E91}"/>
              </a:ext>
            </a:extLst>
          </p:cNvPr>
          <p:cNvSpPr/>
          <p:nvPr/>
        </p:nvSpPr>
        <p:spPr>
          <a:xfrm>
            <a:off x="10210800" y="2959270"/>
            <a:ext cx="990014" cy="990014"/>
          </a:xfrm>
          <a:custGeom>
            <a:avLst/>
            <a:gdLst/>
            <a:ahLst/>
            <a:cxnLst/>
            <a:rect l="l" t="t" r="r" b="b"/>
            <a:pathLst>
              <a:path w="990014" h="990014">
                <a:moveTo>
                  <a:pt x="0" y="0"/>
                </a:moveTo>
                <a:lnTo>
                  <a:pt x="990015" y="0"/>
                </a:lnTo>
                <a:lnTo>
                  <a:pt x="990015" y="990014"/>
                </a:lnTo>
                <a:lnTo>
                  <a:pt x="0" y="990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859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V="1">
            <a:off x="8428807" y="-276568"/>
            <a:ext cx="10772386" cy="10840136"/>
          </a:xfrm>
          <a:custGeom>
            <a:avLst/>
            <a:gdLst/>
            <a:ahLst/>
            <a:cxnLst/>
            <a:rect l="l" t="t" r="r" b="b"/>
            <a:pathLst>
              <a:path w="10772386" h="10840136">
                <a:moveTo>
                  <a:pt x="0" y="10840136"/>
                </a:moveTo>
                <a:lnTo>
                  <a:pt x="10772386" y="10840136"/>
                </a:lnTo>
                <a:lnTo>
                  <a:pt x="10772386" y="0"/>
                </a:lnTo>
                <a:lnTo>
                  <a:pt x="0" y="0"/>
                </a:lnTo>
                <a:lnTo>
                  <a:pt x="0" y="10840136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8748620" y="5714559"/>
            <a:ext cx="4760625" cy="9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just">
              <a:lnSpc>
                <a:spcPts val="2519"/>
              </a:lnSpc>
              <a:spcBef>
                <a:spcPct val="0"/>
              </a:spcBef>
              <a:buAutoNum type="arabicPeriod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Inventory optimization</a:t>
            </a:r>
          </a:p>
          <a:p>
            <a:pPr marL="342900" lvl="0" indent="-342900" algn="just">
              <a:lnSpc>
                <a:spcPts val="2519"/>
              </a:lnSpc>
              <a:spcBef>
                <a:spcPct val="0"/>
              </a:spcBef>
              <a:buAutoNum type="arabicPeriod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Sourcing strategies</a:t>
            </a:r>
          </a:p>
          <a:p>
            <a:pPr marL="342900" lvl="0" indent="-342900" algn="just">
              <a:lnSpc>
                <a:spcPts val="2519"/>
              </a:lnSpc>
              <a:spcBef>
                <a:spcPct val="0"/>
              </a:spcBef>
              <a:buAutoNum type="arabicPeriod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Pricing differentiation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48620" y="4121978"/>
            <a:ext cx="5217825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BUSINESS IMPLICATIONS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898376" y="9066847"/>
            <a:ext cx="1360924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08</a:t>
            </a:r>
          </a:p>
        </p:txBody>
      </p:sp>
      <p:sp>
        <p:nvSpPr>
          <p:cNvPr id="19" name="AutoShape 19"/>
          <p:cNvSpPr/>
          <p:nvPr/>
        </p:nvSpPr>
        <p:spPr>
          <a:xfrm>
            <a:off x="-546393" y="9248775"/>
            <a:ext cx="1644476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3074" name="Picture 2" descr="THE MINIMAL KNITWEAR-WOMAN-STORIES | ZARA United States | Zara models ...">
            <a:extLst>
              <a:ext uri="{FF2B5EF4-FFF2-40B4-BE49-F238E27FC236}">
                <a16:creationId xmlns:a16="http://schemas.microsoft.com/office/drawing/2014/main" id="{C371251B-A3D0-A205-9983-FB0CD09CB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2" r="17932"/>
          <a:stretch>
            <a:fillRect/>
          </a:stretch>
        </p:blipFill>
        <p:spPr bwMode="auto">
          <a:xfrm>
            <a:off x="1132336" y="3279425"/>
            <a:ext cx="3337838" cy="596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ZARA United States - Official Website High Fashion Poses, Fashion Model ...">
            <a:extLst>
              <a:ext uri="{FF2B5EF4-FFF2-40B4-BE49-F238E27FC236}">
                <a16:creationId xmlns:a16="http://schemas.microsoft.com/office/drawing/2014/main" id="{524C8CD9-0165-7E9B-0617-DE40A8131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5" r="8527"/>
          <a:stretch>
            <a:fillRect/>
          </a:stretch>
        </p:blipFill>
        <p:spPr bwMode="auto">
          <a:xfrm>
            <a:off x="13716000" y="2110354"/>
            <a:ext cx="3382924" cy="670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Zara Man Lookbook January 2024 (Zara)">
            <a:extLst>
              <a:ext uri="{FF2B5EF4-FFF2-40B4-BE49-F238E27FC236}">
                <a16:creationId xmlns:a16="http://schemas.microsoft.com/office/drawing/2014/main" id="{49F0264C-1EB5-E85A-F981-3F49B5329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0" r="21610"/>
          <a:stretch>
            <a:fillRect/>
          </a:stretch>
        </p:blipFill>
        <p:spPr bwMode="auto">
          <a:xfrm>
            <a:off x="4967962" y="1409700"/>
            <a:ext cx="3337838" cy="677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6">
            <a:extLst>
              <a:ext uri="{FF2B5EF4-FFF2-40B4-BE49-F238E27FC236}">
                <a16:creationId xmlns:a16="http://schemas.microsoft.com/office/drawing/2014/main" id="{4D0CB63B-6CA9-BDC0-4A43-2FD2728DACDE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3F2A6704-50E2-37BD-4502-872BB46FFAF9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CCBD15A3-33E7-641A-7F36-E4103FF822FE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  <p:pic>
        <p:nvPicPr>
          <p:cNvPr id="23" name="Picture 2" descr="Zara Logo, symbol, meaning, history, PNG, brand">
            <a:extLst>
              <a:ext uri="{FF2B5EF4-FFF2-40B4-BE49-F238E27FC236}">
                <a16:creationId xmlns:a16="http://schemas.microsoft.com/office/drawing/2014/main" id="{407A372A-9C24-3243-D3E5-AD7834A9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AA942-6767-27D6-C69F-F041C36C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8AA88D-F2D6-2480-4CA2-CFBA69897B4E}"/>
              </a:ext>
            </a:extLst>
          </p:cNvPr>
          <p:cNvSpPr/>
          <p:nvPr/>
        </p:nvSpPr>
        <p:spPr>
          <a:xfrm>
            <a:off x="0" y="0"/>
            <a:ext cx="18288000" cy="1043939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2392064-13F7-BAC2-AF20-64A8D531496F}"/>
              </a:ext>
            </a:extLst>
          </p:cNvPr>
          <p:cNvSpPr/>
          <p:nvPr/>
        </p:nvSpPr>
        <p:spPr>
          <a:xfrm>
            <a:off x="8648993" y="1943100"/>
            <a:ext cx="990014" cy="990014"/>
          </a:xfrm>
          <a:custGeom>
            <a:avLst/>
            <a:gdLst/>
            <a:ahLst/>
            <a:cxnLst/>
            <a:rect l="l" t="t" r="r" b="b"/>
            <a:pathLst>
              <a:path w="990014" h="990014">
                <a:moveTo>
                  <a:pt x="0" y="0"/>
                </a:moveTo>
                <a:lnTo>
                  <a:pt x="990014" y="0"/>
                </a:lnTo>
                <a:lnTo>
                  <a:pt x="990014" y="990015"/>
                </a:lnTo>
                <a:lnTo>
                  <a:pt x="0" y="9900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BC1DFDAB-8486-4C66-C6F4-8E09257DDE54}"/>
              </a:ext>
            </a:extLst>
          </p:cNvPr>
          <p:cNvSpPr/>
          <p:nvPr/>
        </p:nvSpPr>
        <p:spPr>
          <a:xfrm>
            <a:off x="-546393" y="9248775"/>
            <a:ext cx="1644476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B6E1CBA-CE80-56EE-871E-050028B737BA}"/>
              </a:ext>
            </a:extLst>
          </p:cNvPr>
          <p:cNvSpPr txBox="1"/>
          <p:nvPr/>
        </p:nvSpPr>
        <p:spPr>
          <a:xfrm>
            <a:off x="2378295" y="3092057"/>
            <a:ext cx="5896342" cy="62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lvl="0" indent="-285750">
              <a:lnSpc>
                <a:spcPts val="2519"/>
              </a:lnSpc>
              <a:spcBef>
                <a:spcPct val="0"/>
              </a:spcBef>
              <a:buFontTx/>
              <a:buChar char="-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data of costs available for planning strategies</a:t>
            </a:r>
          </a:p>
          <a:p>
            <a:pPr marL="285750" lvl="0" indent="-285750">
              <a:lnSpc>
                <a:spcPts val="2519"/>
              </a:lnSpc>
              <a:spcBef>
                <a:spcPct val="0"/>
              </a:spcBef>
              <a:buFontTx/>
              <a:buChar char="-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time series forecasting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5779912-C772-0A29-5BDC-97D9D71C8214}"/>
              </a:ext>
            </a:extLst>
          </p:cNvPr>
          <p:cNvSpPr txBox="1"/>
          <p:nvPr/>
        </p:nvSpPr>
        <p:spPr>
          <a:xfrm>
            <a:off x="2362200" y="2106677"/>
            <a:ext cx="4754405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Limitations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F84A0B0-8FDD-9DDB-9028-0DF179577108}"/>
              </a:ext>
            </a:extLst>
          </p:cNvPr>
          <p:cNvSpPr txBox="1"/>
          <p:nvPr/>
        </p:nvSpPr>
        <p:spPr>
          <a:xfrm>
            <a:off x="10013363" y="3092057"/>
            <a:ext cx="5896342" cy="9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Tx/>
              <a:buChar char="-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Price sensitivity study</a:t>
            </a:r>
          </a:p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Tx/>
              <a:buChar char="-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Seasonality demand forecasting</a:t>
            </a:r>
          </a:p>
          <a:p>
            <a:pPr marL="285750" lvl="0" indent="-285750" algn="just">
              <a:lnSpc>
                <a:spcPts val="2519"/>
              </a:lnSpc>
              <a:spcBef>
                <a:spcPct val="0"/>
              </a:spcBef>
              <a:buFontTx/>
              <a:buChar char="-"/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Inventory data integration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1F3CD8C-BC79-6BA3-F171-262F44B1B53B}"/>
              </a:ext>
            </a:extLst>
          </p:cNvPr>
          <p:cNvSpPr txBox="1"/>
          <p:nvPr/>
        </p:nvSpPr>
        <p:spPr>
          <a:xfrm>
            <a:off x="9936099" y="2106678"/>
            <a:ext cx="5962277" cy="692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Next steps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18ABF38-9795-05ED-8B52-5ED7C1E7F7FA}"/>
              </a:ext>
            </a:extLst>
          </p:cNvPr>
          <p:cNvSpPr txBox="1"/>
          <p:nvPr/>
        </p:nvSpPr>
        <p:spPr>
          <a:xfrm>
            <a:off x="15898376" y="9066847"/>
            <a:ext cx="1360924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09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E2709F0C-1AE8-2056-BDDB-9348095E1F36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8906254D-EC84-ECC9-0874-11B9308C08C3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75ADA5C-7ACC-899C-25EF-99C505FA5F3E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  <p:pic>
        <p:nvPicPr>
          <p:cNvPr id="6" name="Picture 2" descr="Zara Logo, symbol, meaning, history, PNG, brand">
            <a:extLst>
              <a:ext uri="{FF2B5EF4-FFF2-40B4-BE49-F238E27FC236}">
                <a16:creationId xmlns:a16="http://schemas.microsoft.com/office/drawing/2014/main" id="{40C79138-60D7-CB68-9BFE-AF4BBFE77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Zara Women's Spring 2020 Ad Campaign By Steven Meisel &amp; Fabien Baron ...">
            <a:extLst>
              <a:ext uri="{FF2B5EF4-FFF2-40B4-BE49-F238E27FC236}">
                <a16:creationId xmlns:a16="http://schemas.microsoft.com/office/drawing/2014/main" id="{84D9CA11-3ADF-8974-6EA2-49D2CC642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4632"/>
          <a:stretch>
            <a:fillRect/>
          </a:stretch>
        </p:blipFill>
        <p:spPr bwMode="auto">
          <a:xfrm>
            <a:off x="-47625" y="4620406"/>
            <a:ext cx="18335625" cy="432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49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Zara Model White Background">
            <a:extLst>
              <a:ext uri="{FF2B5EF4-FFF2-40B4-BE49-F238E27FC236}">
                <a16:creationId xmlns:a16="http://schemas.microsoft.com/office/drawing/2014/main" id="{61D63053-DA55-2841-FE5E-5AAAF1421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167" t="5761" b="30216"/>
          <a:stretch>
            <a:fillRect/>
          </a:stretch>
        </p:blipFill>
        <p:spPr bwMode="auto">
          <a:xfrm>
            <a:off x="-55068" y="1"/>
            <a:ext cx="18343068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/>
          <p:cNvSpPr txBox="1"/>
          <p:nvPr/>
        </p:nvSpPr>
        <p:spPr>
          <a:xfrm>
            <a:off x="4181572" y="3423367"/>
            <a:ext cx="9924857" cy="415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27"/>
              </a:lnSpc>
            </a:pPr>
            <a:r>
              <a:rPr lang="en-US" sz="16027" dirty="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THANK</a:t>
            </a:r>
          </a:p>
          <a:p>
            <a:pPr marL="0" lvl="0" indent="0" algn="ctr">
              <a:lnSpc>
                <a:spcPts val="16027"/>
              </a:lnSpc>
            </a:pPr>
            <a:r>
              <a:rPr lang="en-US" sz="16027" dirty="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98376" y="9066847"/>
            <a:ext cx="136092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10</a:t>
            </a:r>
          </a:p>
        </p:txBody>
      </p:sp>
      <p:sp>
        <p:nvSpPr>
          <p:cNvPr id="11" name="AutoShape 11"/>
          <p:cNvSpPr/>
          <p:nvPr/>
        </p:nvSpPr>
        <p:spPr>
          <a:xfrm>
            <a:off x="-546393" y="9248775"/>
            <a:ext cx="1644476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7219151" y="8222215"/>
            <a:ext cx="3849698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Explore the dashboard below</a:t>
            </a:r>
          </a:p>
        </p:txBody>
      </p:sp>
      <p:pic>
        <p:nvPicPr>
          <p:cNvPr id="13" name="Picture 2" descr="Zara Logo, symbol, meaning, history, PNG, brand">
            <a:extLst>
              <a:ext uri="{FF2B5EF4-FFF2-40B4-BE49-F238E27FC236}">
                <a16:creationId xmlns:a16="http://schemas.microsoft.com/office/drawing/2014/main" id="{203CA902-52A1-83BA-3FCA-BBF013B4C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47699"/>
            <a:ext cx="12192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86A1A0D1-C7D3-437F-AB87-7EEDFBAEFA8B}"/>
              </a:ext>
            </a:extLst>
          </p:cNvPr>
          <p:cNvSpPr txBox="1"/>
          <p:nvPr/>
        </p:nvSpPr>
        <p:spPr>
          <a:xfrm>
            <a:off x="11677800" y="837247"/>
            <a:ext cx="865641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INTRO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B5FDF366-E34F-6582-26AD-5D31A7D1F19F}"/>
              </a:ext>
            </a:extLst>
          </p:cNvPr>
          <p:cNvSpPr txBox="1"/>
          <p:nvPr/>
        </p:nvSpPr>
        <p:spPr>
          <a:xfrm>
            <a:off x="13451125" y="837247"/>
            <a:ext cx="1428462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1AB7D47-0CFC-223C-4C85-5F77B0E505BB}"/>
              </a:ext>
            </a:extLst>
          </p:cNvPr>
          <p:cNvSpPr txBox="1"/>
          <p:nvPr/>
        </p:nvSpPr>
        <p:spPr>
          <a:xfrm>
            <a:off x="15493145" y="837247"/>
            <a:ext cx="1766155" cy="3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8F5ED705-8D26-9557-F681-FC061B3B2B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10651"/>
                  </p:ext>
                </p:extLst>
              </p:nvPr>
            </p:nvGraphicFramePr>
            <p:xfrm>
              <a:off x="0" y="0"/>
              <a:ext cx="18288000" cy="10287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8F5ED705-8D26-9557-F681-FC061B3B2B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8288000" cy="1028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43247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ANNOTATIONSNOTESHOWE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4C20F601-7611-42E7-9A17-C327CABBD745}">
  <we:reference id="wa200003233" version="2.0.0.3" store="en-GB" storeType="OMEX"/>
  <we:alternateReferences>
    <we:reference id="WA200003233" version="2.0.0.3" store="WA200003233" storeType="OMEX"/>
  </we:alternateReferences>
  <we:properties>
    <we:property name="pptInsertionSessionID" value="&quot;3F6F2C8C-498B-4255-8890-E894FD66561D&quot;"/>
    <we:property name="embedUrl" value="&quot;/reportEmbed?reportId=f019a623-e9ad-4b8b-899c-70e0d2e495ec&amp;config=eyJjbHVzdGVyVXJsIjoiaHR0cHM6Ly9XQUJJLVdFU1QtRVVST1BFLUItUFJJTUFSWS1yZWRpcmVjdC5hbmFseXNpcy53aW5kb3dzLm5ldCIsImVtYmVkRmVhdHVyZXMiOnsidXNhZ2VNZXRyaWNzVk5leHQiOnRydWV9fQ%3D%3D&amp;disableSensitivityBanner=true&amp;storytellingChangeViewModeShortcutKeys=true&quot;"/>
    <we:property name="bookmark" value="&quot;H4sIAAAAAAAAA+1XS2/bMAz+K4XP2SDLD8W5tVl321Aswy5DDnrQrlrHMmS5axbkv4+yk/WZZSuSNiuKXCySET99/EhIi0Dppi75/DOfQTAKToy5nHF7eRQGg6DqbTKjIkliyTLKJEmiVDCBXlM7baomGC0Cx20B7ptuWl76jdD4fToIeFme8cKvcl42MAhqsI2peKl/Qh+MLmdbWA4CuK5LY7nfcuK4A7/tFYbjGiGE7yPMyKXTVzAB6XqrkDRmUSJJJsKEMUKHMsOwpg/okD0a4rfu0o9N5biuMI23RTQTYshiEmVhmJAwJox6e65LtwoR89Pr2uLpFmtyuIyHGYQQUpIqwvFHPHVuXnvvGE9SGKslL4PujBaa/kiLYGzKdtZ9nd6xT0xrJXyBvHNVTrs57vSTW/6utka10jXBEhk7swb57JyYodBVZz03P8YWMK0KRmQ5WKyRHKsrXkm03ofxCXjTWvgnHA0v4QGIsWkrd2TyoxvvXTBTtDS6KspV8W/q8LXHWGsYn3PrvLjEBfiDjhb4J2MV2JN5R/sHbdf1p4N7iPd3lOV0rT6Murilr1WBe2z7qOh06T0spRAqwekQhpzImFOIN0vzecU3wzRWY44/yW/HWB6t2gTL76fLf98Hsmwb5BRUz8xbTzwQWt8VCnshVckQWMQzpoYki9ihdEXTifHQpXgwDfr3PXHC7VtD3NNY3w6JSGkYRyEImeElLcmUDA+lHV7JDQUaq1euA5Sfj+BpQvOcUhAsTDO8MygQW0WwkfrjorBQcLdanu5nLPw2fmyrFW/kGWfV5vbqwTxJtLtmbhPIGmmA7eRtVfZ5WymcrmeAACqHTzB5uZP7x0sq6AUG8lox64ksoyTKCUmyKGFERCxOn96MOxsdx/iwxnf567gYKFO17jBuBI/wujcJbuPRC7DT4C1KlstfrvkP0e8RAAA=&quot;"/>
    <we:property name="datasetId" value="&quot;cf864097-583d-468f-bdcf-09a8dbb2561b&quot;"/>
    <we:property name="pageName" value="&quot;bc24735c09b1577028c9&quot;"/>
    <we:property name="reportUrl" value="&quot;/links/RgAhm5xGAD?ctid=3e0dd1f3-0e50-475d-98e3-0e55cca34849&amp;bookmarkGuid=43f22ca5-cf09-458b-85f1-1f31cbfcfcc8&quot;"/>
    <we:property name="reportName" value="&quot;zara-sales-dashboard&quot;"/>
    <we:property name="reportState" value="&quot;CONNECTED&quot;"/>
    <we:property name="pageDisplayName" value="&quot;dashboard&quot;"/>
    <we:property name="backgroundColor" value="&quot;#FFFFFF&quot;"/>
    <we:property name="initialStateBookmark" value="&quot;H4sIAAAAAAAAA+1YTW/aQBD9K9GeaeVvY26E0kuaBIUqlwpV4/XgbGK81nqdhiL+e2dt0zQflDSChEYRB7yzw86bN29GaxYsEWWRwfwEZsh67FDKqxmoqwObdVje2k5Pj477Z0ffT/rHQzLLQguZl6y3YBpUivpclBVk5gQyfpt0GGTZCFKzmkJWYocVqEqZQyZ+YuNMW1pVuOwwvCkyqcAcOdag0Rx7Te60ptj2R5ciAtfiGsfIdWONueOFrs+tKLb9MLScLo/IrWwcamSPupij6/ADmWsQOYUxNteJ4rgbepYb2bZv2Z4VOsY+FZluXeL58KZQlN1ixQpwrxuhjbZjBYkF9LEMZ3pemN0BZZJKJThkrM5RYdmktGADmVWz+ml4xz6WleJ4htN6K9dCz+mkn6DgQ6FkUnFdsiUxNlKS+Kw3KUIq8tp6IX8MFFLYhPWsZWexQtJPriHnZL0P4xihrBT+E44SMnwAYiCrXB/I6cHt7l0wE7KUIk+ztvi3dfjaYCwEDi5AaSOu+BJNor0F/UiqBNXhvKb9k1Cr+jude4h3l8pyslIfeV3+oa+2wA22XVR0sjQ7YeCgncTgdLELFvfAQW+9NF9WfDMKowTF+Jv8tozl0aqNqfxmuvz3fcCzqiROMWmYee+JB0JruiKhXggSv4uhC1GYdK3IDfelK8pajPsuxb1p0Kf3xCGo94a4p7GmHfw4cGzPtTHmkRvEfpRwe1/a4Y3cULBUot3aQ/kZDwh8Zzp1HIxDO4jozpBgvFEEa6nvp6nCFHS7HO5mLPw2fq7yljfrBWfV+vZqwDxLtNtmbh3IgmjAzeRtVPZFlSc0XUdIAHJNr2D8aiv3j9dU0CsM5JViVhOZu747tSw/cv3Qit3QC57fjFsbHX16sab38rdxMUhkXun9uBE8wuvOJLiJRyPAWoO3lLAZqrROU1a6LIDjCHKsARTNGQJrPyoy5Inhv35W5vuLIMU29J9DVhnmzT83rI5BBRFxhk/0b8H9At+rdSB0EgAA&quot;"/>
    <we:property name="isFiltersActionButtonVisible" value="true"/>
    <we:property name="isVisualContainerHeaderHidden" value="false"/>
    <we:property name="reportEmbeddedTime" value="&quot;2026-01-06T14:11:12.838Z&quot;"/>
    <we:property name="creatorTenantId" value="&quot;3e0dd1f3-0e50-475d-98e3-0e55cca34849&quot;"/>
    <we:property name="creatorUserId" value="&quot;10032002979F57A9&quot;"/>
    <we:property name="creatorSessionId" value="&quot;f99768e3-ff4e-446c-aff5-69d048635530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Custom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Poppins</vt:lpstr>
      <vt:lpstr>Calibri</vt:lpstr>
      <vt:lpstr>Arial</vt:lpstr>
      <vt:lpstr>Cinzel</vt:lpstr>
      <vt:lpstr>Wingdings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zara-sales-business-eda</dc:title>
  <cp:lastModifiedBy>Kristel Juglair</cp:lastModifiedBy>
  <cp:revision>2</cp:revision>
  <dcterms:created xsi:type="dcterms:W3CDTF">2006-08-16T00:00:00Z</dcterms:created>
  <dcterms:modified xsi:type="dcterms:W3CDTF">2026-01-06T14:20:15Z</dcterms:modified>
  <dc:identifier>DAG9pF3XN-U</dc:identifier>
</cp:coreProperties>
</file>